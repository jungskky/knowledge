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oto Sans KR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otoSansK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8fa2e4286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8fa2e4286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fa2e4286_22_0)">
  <p:cSld name="Generated (g3e8fa2e4286_22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jpg"/><Relationship Id="rId7" Type="http://schemas.openxmlformats.org/officeDocument/2006/relationships/image" Target="../media/image7.jp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381000" y="1905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800">
                <a:solidFill>
                  <a:srgbClr val="1A237E"/>
                </a:solidFill>
                <a:latin typeface="Noto Sans KR"/>
                <a:ea typeface="Noto Sans KR"/>
                <a:cs typeface="Noto Sans KR"/>
                <a:sym typeface="Noto Sans KR"/>
              </a:rPr>
              <a:t>RAG 성능 최적화: 고도화된 데이터 처리 및 검색 전략</a:t>
            </a:r>
            <a:endParaRPr b="1" sz="2800">
              <a:solidFill>
                <a:srgbClr val="1A23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" y="1009650"/>
            <a:ext cx="42102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381000" y="1047750"/>
            <a:ext cx="4095900" cy="428700"/>
          </a:xfrm>
          <a:prstGeom prst="roundRect">
            <a:avLst>
              <a:gd fmla="val 33333" name="adj"/>
            </a:avLst>
          </a:prstGeom>
          <a:solidFill>
            <a:srgbClr val="3949A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571500" y="1114425"/>
            <a:ext cx="371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전처리 전략: Child-Parent Chunking</a:t>
            </a:r>
            <a:endParaRPr b="1"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An infographic diagram showing document hierarchy. A large &quot;Parent Document&quot; box containing multiple smaller &quot;Child Chunks&quot; with arrows indicating the relationship. Flat vector style, professional blue and gray tones." id="60" name="Google Shape;60;p14"/>
          <p:cNvPicPr preferRelativeResize="0"/>
          <p:nvPr/>
        </p:nvPicPr>
        <p:blipFill rotWithShape="1">
          <a:blip r:embed="rId6">
            <a:alphaModFix/>
          </a:blip>
          <a:srcRect b="6763" l="0" r="0" t="6754"/>
          <a:stretch/>
        </p:blipFill>
        <p:spPr>
          <a:xfrm>
            <a:off x="666750" y="1619250"/>
            <a:ext cx="35244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571500" y="3429000"/>
            <a:ext cx="371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283593"/>
                </a:solidFill>
                <a:latin typeface="Noto Sans KR"/>
                <a:ea typeface="Noto Sans KR"/>
                <a:cs typeface="Noto Sans KR"/>
                <a:sym typeface="Noto Sans KR"/>
              </a:rPr>
              <a:t>문서 잘림 및 문맥 손실 해결</a:t>
            </a:r>
            <a:endParaRPr b="1" sz="1400">
              <a:solidFill>
                <a:srgbClr val="28359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1" lang="ko" sz="1100">
                <a:solidFill>
                  <a:srgbClr val="0D47A1"/>
                </a:solidFill>
                <a:latin typeface="Noto Sans KR"/>
                <a:ea typeface="Noto Sans KR"/>
                <a:cs typeface="Noto Sans KR"/>
                <a:sym typeface="Noto Sans KR"/>
              </a:rPr>
              <a:t>Child Chunk:</a:t>
            </a: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 검색용 작은 조각 (정밀도 향상)</a:t>
            </a:r>
            <a:endParaRPr b="0" sz="1100">
              <a:solidFill>
                <a:srgbClr val="42424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1" lang="ko" sz="1100">
                <a:solidFill>
                  <a:srgbClr val="0D47A1"/>
                </a:solidFill>
                <a:latin typeface="Noto Sans KR"/>
                <a:ea typeface="Noto Sans KR"/>
                <a:cs typeface="Noto Sans KR"/>
                <a:sym typeface="Noto Sans KR"/>
              </a:rPr>
              <a:t>Parent Chunk:</a:t>
            </a: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 답변용 큰 조각 (문맥 유지)</a:t>
            </a:r>
            <a:endParaRPr b="0" sz="1100">
              <a:solidFill>
                <a:srgbClr val="42424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검색은 작은 조각으로, LLM 전달은 넓은 문맥으로!</a:t>
            </a:r>
            <a:endParaRPr b="0" sz="1100">
              <a:solidFill>
                <a:srgbClr val="42424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0100" y="1009650"/>
            <a:ext cx="42102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4667250" y="1047750"/>
            <a:ext cx="4095900" cy="428700"/>
          </a:xfrm>
          <a:prstGeom prst="roundRect">
            <a:avLst>
              <a:gd fmla="val 33333" name="adj"/>
            </a:avLst>
          </a:prstGeom>
          <a:solidFill>
            <a:srgbClr val="00897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4857750" y="1114425"/>
            <a:ext cx="371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검색 정확도 전략: Hybrid Search (Sparse &amp; Dense)</a:t>
            </a:r>
            <a:endParaRPr b="1"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An illustration of Hybrid Search. One side represents 'Sparse Retrieval (BM25)' with keyword highlighting, the other 'Dense Retrieval (Embedding)' with a conceptual vector space cloud. A central arrow points to 'Rerank/Top Results'. Professional clean design." id="65" name="Google Shape;65;p14"/>
          <p:cNvPicPr preferRelativeResize="0"/>
          <p:nvPr/>
        </p:nvPicPr>
        <p:blipFill rotWithShape="1">
          <a:blip r:embed="rId7">
            <a:alphaModFix/>
          </a:blip>
          <a:srcRect b="6763" l="0" r="0" t="6754"/>
          <a:stretch/>
        </p:blipFill>
        <p:spPr>
          <a:xfrm>
            <a:off x="4953000" y="1619250"/>
            <a:ext cx="35244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4857750" y="3429000"/>
            <a:ext cx="371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283593"/>
                </a:solidFill>
                <a:latin typeface="Noto Sans KR"/>
                <a:ea typeface="Noto Sans KR"/>
                <a:cs typeface="Noto Sans KR"/>
                <a:sym typeface="Noto Sans KR"/>
              </a:rPr>
              <a:t>검색 정확도 극대화</a:t>
            </a:r>
            <a:endParaRPr b="1" sz="1400">
              <a:solidFill>
                <a:srgbClr val="28359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1" lang="ko" sz="1100">
                <a:solidFill>
                  <a:srgbClr val="0D47A1"/>
                </a:solidFill>
                <a:latin typeface="Noto Sans KR"/>
                <a:ea typeface="Noto Sans KR"/>
                <a:cs typeface="Noto Sans KR"/>
                <a:sym typeface="Noto Sans KR"/>
              </a:rPr>
              <a:t>Sparse (BM25):</a:t>
            </a: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 키워드 기반 정확한 일치 검색</a:t>
            </a:r>
            <a:endParaRPr b="0" sz="1100">
              <a:solidFill>
                <a:srgbClr val="42424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1" lang="ko" sz="1100">
                <a:solidFill>
                  <a:srgbClr val="0D47A1"/>
                </a:solidFill>
                <a:latin typeface="Noto Sans KR"/>
                <a:ea typeface="Noto Sans KR"/>
                <a:cs typeface="Noto Sans KR"/>
                <a:sym typeface="Noto Sans KR"/>
              </a:rPr>
              <a:t>Dense (Embedding):</a:t>
            </a: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 의미 및 문맥 기반 유사도 검색</a:t>
            </a:r>
            <a:endParaRPr b="0" sz="1100">
              <a:solidFill>
                <a:srgbClr val="42424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ko" sz="1100">
                <a:solidFill>
                  <a:srgbClr val="424242"/>
                </a:solidFill>
                <a:latin typeface="Noto Sans KR"/>
                <a:ea typeface="Noto Sans KR"/>
                <a:cs typeface="Noto Sans KR"/>
                <a:sym typeface="Noto Sans KR"/>
              </a:rPr>
              <a:t>• 두 방식의 장점을 결합하여 고성능 하이브리드 검색 구현</a:t>
            </a:r>
            <a:endParaRPr b="0" sz="1100">
              <a:solidFill>
                <a:srgbClr val="42424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7238" y="1428750"/>
            <a:ext cx="9600" cy="28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4381500" y="2667000"/>
            <a:ext cx="381000" cy="38100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4381500" y="2693289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add</a:t>
            </a:r>
            <a:endParaRPr sz="18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